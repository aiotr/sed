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411480" cy="5033772"/>
          </a:xfrm>
          <a:prstGeom prst="rect">
            <a:avLst/>
          </a:prstGeom>
          <a:solidFill>
            <a:srgbClr val="131B3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" y="502920"/>
            <a:ext cx="118872" cy="11887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" y="1252728"/>
            <a:ext cx="118872" cy="1188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" y="2002536"/>
            <a:ext cx="118872" cy="11887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" y="2752344"/>
            <a:ext cx="118872" cy="118872"/>
          </a:xfrm>
          <a:prstGeom prst="ellipse">
            <a:avLst/>
          </a:prstGeom>
          <a:solidFill>
            <a:srgbClr val="FF0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" y="3502152"/>
            <a:ext cx="118872" cy="11887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" y="4251960"/>
            <a:ext cx="118872" cy="1188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658368"/>
            <a:ext cx="8321040" cy="4160520"/>
          </a:xfrm>
          <a:prstGeom prst="rect">
            <a:avLst/>
          </a:prstGeom>
          <a:solidFill>
            <a:srgbClr val="0F1629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658368"/>
            <a:ext cx="64008" cy="41605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80467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SISTEMA ELEKTRONIKO DIGITALAK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17043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PRAKTIKAK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777240" y="18013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Ebazpenen Bilduma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777240" y="2377440"/>
            <a:ext cx="7863840" cy="27432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51460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Oinarrizko Kontzeptuetatik Arkitektura Aurreratura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2999232"/>
            <a:ext cx="1828800" cy="384048"/>
          </a:xfrm>
          <a:prstGeom prst="rect">
            <a:avLst/>
          </a:prstGeom>
          <a:solidFill>
            <a:srgbClr val="131B3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2999232"/>
            <a:ext cx="18288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C51 Oinarriak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88920" y="2999232"/>
            <a:ext cx="1828800" cy="384048"/>
          </a:xfrm>
          <a:prstGeom prst="rect">
            <a:avLst/>
          </a:prstGeom>
          <a:solidFill>
            <a:srgbClr val="131B3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88920" y="2999232"/>
            <a:ext cx="18288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ISR / Polling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999232"/>
            <a:ext cx="1828800" cy="384048"/>
          </a:xfrm>
          <a:prstGeom prst="rect">
            <a:avLst/>
          </a:prstGeom>
          <a:solidFill>
            <a:srgbClr val="131B3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2999232"/>
            <a:ext cx="18288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 0 &amp; 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12280" y="2999232"/>
            <a:ext cx="1828800" cy="384048"/>
          </a:xfrm>
          <a:prstGeom prst="rect">
            <a:avLst/>
          </a:prstGeom>
          <a:solidFill>
            <a:srgbClr val="131B30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12280" y="2999232"/>
            <a:ext cx="1828800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ADC / DAC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44348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80C552  |  Keil µVision  |  C51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21792"/>
          </a:xfrm>
          <a:prstGeom prst="rect">
            <a:avLst/>
          </a:prstGeom>
          <a:solidFill>
            <a:srgbClr val="131B3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217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097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097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Praktika: C51 Oinarriak eta µVision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977640" cy="1005840"/>
          </a:xfrm>
          <a:prstGeom prst="rect">
            <a:avLst/>
          </a:prstGeom>
          <a:solidFill>
            <a:srgbClr val="131B3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397764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96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HELBURUA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IDE-aren menperatzea eta C lengoaiako eragiketak — matematika eta bit-maila manipulazioak.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822960"/>
            <a:ext cx="4434840" cy="960120"/>
          </a:xfrm>
          <a:prstGeom prst="rect">
            <a:avLst/>
          </a:prstGeom>
          <a:solidFill>
            <a:srgbClr val="131B3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822960"/>
            <a:ext cx="54864" cy="9601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914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Aldagaiak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99432" y="1234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Shift-ak eta maskarak erabiliz esangarritasun transformazioak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34840" y="1901952"/>
            <a:ext cx="4434840" cy="960120"/>
          </a:xfrm>
          <a:prstGeom prst="rect">
            <a:avLst/>
          </a:prstGeom>
          <a:solidFill>
            <a:srgbClr val="131B3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34840" y="1901952"/>
            <a:ext cx="54864" cy="960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1993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Simulagailua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99432" y="23134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leihoak + exekuziozko pausoak aldagaien jarraipena egiteko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34840" y="2980944"/>
            <a:ext cx="4434840" cy="960120"/>
          </a:xfrm>
          <a:prstGeom prst="rect">
            <a:avLst/>
          </a:prstGeom>
          <a:solidFill>
            <a:srgbClr val="131B3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34840" y="2980944"/>
            <a:ext cx="54864" cy="960120"/>
          </a:xfrm>
          <a:prstGeom prst="rect">
            <a:avLst/>
          </a:prstGeom>
          <a:solidFill>
            <a:srgbClr val="FF0080"/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9432" y="30723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Floating-Point Muga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99432" y="339242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 bikoitzeko zehaztasun gabezia arkitektura txiki honetan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1965960"/>
            <a:ext cx="3977640" cy="245059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207568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" y="2075688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" y="2075688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203911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bit_operazioak.c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4048" y="22860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 int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balioa = </a:t>
            </a:r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0x1234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" y="25328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Shift ezkerrera (×2)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" y="27797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balioa &lt;&lt;= </a:t>
            </a:r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048" y="32735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AND maska aplikatu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" y="35204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balioa &amp;= </a:t>
            </a:r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0x00FF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4048" y="40142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 maska: bit ezarri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" y="42611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balioa |= </a:t>
            </a:r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0x0080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0392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21792"/>
          </a:xfrm>
          <a:prstGeom prst="rect">
            <a:avLst/>
          </a:prstGeom>
          <a:solidFill>
            <a:srgbClr val="131B3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097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097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Praktika: Erantzun Sinkronoak — Itxarote Aktiboa vs ISR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977640" cy="4041648"/>
          </a:xfrm>
          <a:prstGeom prst="rect">
            <a:avLst/>
          </a:prstGeom>
          <a:solidFill>
            <a:srgbClr val="131B3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3977640" cy="54864"/>
          </a:xfrm>
          <a:prstGeom prst="rect">
            <a:avLst/>
          </a:prstGeom>
          <a:solidFill>
            <a:srgbClr val="FF0080"/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41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0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POLLING — Itxarote Aktiboa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1371600"/>
            <a:ext cx="374904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81328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737360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Delay(</a:t>
            </a:r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💤 CPU blok.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993392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(P1 &amp; </a:t>
            </a:r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0x01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249424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 = !</a:t>
            </a:r>
            <a:pPr indent="0" marL="0">
              <a:buNone/>
            </a:pPr>
            <a:r>
              <a:rPr lang="en-US" sz="1100" dirty="0">
                <a:solidFill>
                  <a:srgbClr val="FF0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505456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etengabe exekutatzen da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3101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Delay()-ak CPU blokeatzen du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6941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beste ezer ezin egin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4048" y="4114800"/>
            <a:ext cx="3749040" cy="594360"/>
          </a:xfrm>
          <a:prstGeom prst="rect">
            <a:avLst/>
          </a:prstGeom>
          <a:solidFill>
            <a:srgbClr val="0F1629"/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16052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erabilera: ~100% — Sistema gainkargatua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34840" y="822960"/>
            <a:ext cx="4434840" cy="4041648"/>
          </a:xfrm>
          <a:prstGeom prst="rect">
            <a:avLst/>
          </a:prstGeom>
          <a:solidFill>
            <a:srgbClr val="131B3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34840" y="822960"/>
            <a:ext cx="443484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9418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ISR — Etendura (Interrupt)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44568" y="1371600"/>
            <a:ext cx="420624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481328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ext0_isr() </a:t>
            </a:r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interrupt </a:t>
            </a:r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173736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1993392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LED = !</a:t>
            </a:r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⚡ Unean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2249424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2505456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main: libre jarduteko!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17720" y="29260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libre dago gertaera bitartean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17720" y="33101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Erantzun berehalakoa (Hardware-maila)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17720" y="36941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paraleloa posible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44568" y="4114800"/>
            <a:ext cx="4206240" cy="594360"/>
          </a:xfrm>
          <a:prstGeom prst="rect">
            <a:avLst/>
          </a:prstGeom>
          <a:solidFill>
            <a:srgbClr val="0F1629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41605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erabilera: ~0% itxarotean — Sistema eraginkorra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0" y="2331720"/>
            <a:ext cx="640080" cy="640080"/>
          </a:xfrm>
          <a:prstGeom prst="ellipse">
            <a:avLst/>
          </a:prstGeom>
          <a:solidFill>
            <a:srgbClr val="FACC1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50392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21792"/>
          </a:xfrm>
          <a:prstGeom prst="rect">
            <a:avLst/>
          </a:prstGeom>
          <a:solidFill>
            <a:srgbClr val="131B3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217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097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097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Praktika: Timer 0 eta 1 — Milisegunduen Dantza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788920" cy="1188720"/>
          </a:xfrm>
          <a:prstGeom prst="rect">
            <a:avLst/>
          </a:prstGeom>
          <a:solidFill>
            <a:srgbClr val="131B3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278892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144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FOSC ZATIKETA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17043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12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" y="16642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tick bakoitzeko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822960"/>
            <a:ext cx="2788920" cy="1188720"/>
          </a:xfrm>
          <a:prstGeom prst="rect">
            <a:avLst/>
          </a:prstGeom>
          <a:solidFill>
            <a:srgbClr val="131B3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822960"/>
            <a:ext cx="278892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9144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TMOD ERREGISTROA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117043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37560" y="16642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/ 13-bit / 16-bit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822960"/>
            <a:ext cx="2788920" cy="1188720"/>
          </a:xfrm>
          <a:prstGeom prst="rect">
            <a:avLst/>
          </a:prstGeom>
          <a:solidFill>
            <a:srgbClr val="131B3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822960"/>
            <a:ext cx="278892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9144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AUTO-RELOAD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63640" y="117043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63640" y="16642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Automatikoki berrabiarazten da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148840"/>
            <a:ext cx="4023360" cy="777240"/>
          </a:xfrm>
          <a:prstGeom prst="rect">
            <a:avLst/>
          </a:prstGeom>
          <a:solidFill>
            <a:srgbClr val="131B3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148840"/>
            <a:ext cx="54864" cy="77724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194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Auto-Reload Ekuazioa: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TH0 = 256 − (f_osc / 12 / 1000)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434840" y="2148840"/>
            <a:ext cx="4434840" cy="2651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225856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258568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74920" y="2258568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2219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timer_isr.c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0" y="245059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 int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tick_ms = </a:t>
            </a:r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292608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timer0_isr() </a:t>
            </a:r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interrupt </a:t>
            </a:r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0" y="3163824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0" y="340156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TH0 = </a:t>
            </a:r>
            <a:pPr indent="0" marL="0">
              <a:buNone/>
            </a:pPr>
            <a:r>
              <a:rPr lang="en-US" sz="11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RELOAD_VAL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Berrabiarazi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0" y="363931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tick_ms++;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// +1ms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0" y="387705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0" y="4352544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main-en: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0" y="459028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(tick_ms &gt;= </a:t>
            </a:r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... }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063240"/>
            <a:ext cx="914400" cy="1600200"/>
          </a:xfrm>
          <a:prstGeom prst="rect">
            <a:avLst/>
          </a:prstGeom>
          <a:solidFill>
            <a:srgbClr val="131B3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3063240"/>
            <a:ext cx="9144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1546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fosc / 12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20040" y="374904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zikloa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207008" y="3840480"/>
            <a:ext cx="54864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280160" y="3063240"/>
            <a:ext cx="914400" cy="1600200"/>
          </a:xfrm>
          <a:prstGeom prst="rect">
            <a:avLst/>
          </a:prstGeom>
          <a:solidFill>
            <a:srgbClr val="131B3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280160" y="3063240"/>
            <a:ext cx="9144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25880" y="31546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ISR deitu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325880" y="374904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1ms-ero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212848" y="3840480"/>
            <a:ext cx="54864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86000" y="3063240"/>
            <a:ext cx="914400" cy="1600200"/>
          </a:xfrm>
          <a:prstGeom prst="rect">
            <a:avLst/>
          </a:prstGeom>
          <a:solidFill>
            <a:srgbClr val="131B3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286000" y="3063240"/>
            <a:ext cx="914400" cy="4572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31720" y="31546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tick++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2331720" y="374904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Kontadorea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18688" y="3840480"/>
            <a:ext cx="54864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91840" y="3063240"/>
            <a:ext cx="914400" cy="1600200"/>
          </a:xfrm>
          <a:prstGeom prst="rect">
            <a:avLst/>
          </a:prstGeom>
          <a:solidFill>
            <a:srgbClr val="131B3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291840" y="3063240"/>
            <a:ext cx="9144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37560" y="31546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 erabaki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337560" y="374904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50392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21792"/>
          </a:xfrm>
          <a:prstGeom prst="rect">
            <a:avLst/>
          </a:prstGeom>
          <a:solidFill>
            <a:srgbClr val="131B3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2179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097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097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Praktika: Karakterizazioa eta ADC/DAC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160520" cy="4041648"/>
          </a:xfrm>
          <a:prstGeom prst="rect">
            <a:avLst/>
          </a:prstGeom>
          <a:solidFill>
            <a:srgbClr val="131B3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416052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32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ADC — Analogiko → Digital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1389888"/>
            <a:ext cx="347472" cy="347472"/>
          </a:xfrm>
          <a:prstGeom prst="ellipse">
            <a:avLst/>
          </a:prstGeom>
          <a:solidFill>
            <a:srgbClr val="131B30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1417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Sentsorearen kurba neurtu (gordin)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" y="1737360"/>
            <a:ext cx="54864" cy="29260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029968"/>
            <a:ext cx="347472" cy="347472"/>
          </a:xfrm>
          <a:prstGeom prst="ellipse">
            <a:avLst/>
          </a:prstGeom>
          <a:solidFill>
            <a:srgbClr val="00D4FF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2057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ADCON + ADCH irakurri sekuentzialki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" y="2377440"/>
            <a:ext cx="54864" cy="29260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2670048"/>
            <a:ext cx="347472" cy="347472"/>
          </a:xfrm>
          <a:prstGeom prst="ellipse">
            <a:avLst/>
          </a:prstGeom>
          <a:solidFill>
            <a:srgbClr val="00D4FF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26974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Look-up Table edo formula linealizatu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" y="3017520"/>
            <a:ext cx="54864" cy="29260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3310128"/>
            <a:ext cx="347472" cy="347472"/>
          </a:xfrm>
          <a:prstGeom prst="ellipse">
            <a:avLst/>
          </a:prstGeom>
          <a:solidFill>
            <a:srgbClr val="00FF88"/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33375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Balio esanguratsua kalkulatu (°C, %...)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4048" y="3931920"/>
            <a:ext cx="3931920" cy="777240"/>
          </a:xfrm>
          <a:prstGeom prst="rect">
            <a:avLst/>
          </a:prstGeom>
          <a:solidFill>
            <a:srgbClr val="0F1629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4005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Kontrol Legea: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224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f(ADC_balio, kalibrazio_parametroak)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17720" y="822960"/>
            <a:ext cx="4251960" cy="4041648"/>
          </a:xfrm>
          <a:prstGeom prst="rect">
            <a:avLst/>
          </a:prstGeom>
          <a:solidFill>
            <a:srgbClr val="131B3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822960"/>
            <a:ext cx="4251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9326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DAC — Digital → Analogiko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00600" y="135331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80C552-k ez dauka benetako DAC-ik.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irteera bidez simulatzen da: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2057400"/>
            <a:ext cx="3977640" cy="384048"/>
          </a:xfrm>
          <a:prstGeom prst="rect">
            <a:avLst/>
          </a:prstGeom>
          <a:solidFill>
            <a:srgbClr val="0F1629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112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Duty Cycle %0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2148840"/>
            <a:ext cx="2103120" cy="20116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58200" y="211226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0V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2532888"/>
            <a:ext cx="3977640" cy="384048"/>
          </a:xfrm>
          <a:prstGeom prst="rect">
            <a:avLst/>
          </a:prstGeom>
          <a:solidFill>
            <a:srgbClr val="0F1629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Duty Cycle %25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2624328"/>
            <a:ext cx="525780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2624328"/>
            <a:ext cx="2103120" cy="20116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58200" y="25877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1.25V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3008376"/>
            <a:ext cx="3977640" cy="384048"/>
          </a:xfrm>
          <a:prstGeom prst="rect">
            <a:avLst/>
          </a:prstGeom>
          <a:solidFill>
            <a:srgbClr val="0F1629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Duty Cycle %50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09360" y="3099816"/>
            <a:ext cx="1051560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0" y="3099816"/>
            <a:ext cx="2103120" cy="20116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58200" y="30632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2.5V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0" y="3483864"/>
            <a:ext cx="3977640" cy="384048"/>
          </a:xfrm>
          <a:prstGeom prst="rect">
            <a:avLst/>
          </a:prstGeom>
          <a:solidFill>
            <a:srgbClr val="0F1629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538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Duty Cycle %100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09360" y="3575304"/>
            <a:ext cx="2103120" cy="20116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09360" y="3575304"/>
            <a:ext cx="2103120" cy="20116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58200" y="35387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5V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54880" y="4041648"/>
            <a:ext cx="3977640" cy="667512"/>
          </a:xfrm>
          <a:prstGeom prst="rect">
            <a:avLst/>
          </a:prstGeom>
          <a:solidFill>
            <a:srgbClr val="0F162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409651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+ RC iragazkia = seinale analogiko baten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batezbestekoa (asimilazioa DAC gisa)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50392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8595360" cy="4754880"/>
          </a:xfrm>
          <a:prstGeom prst="rect">
            <a:avLst/>
          </a:prstGeom>
          <a:solidFill>
            <a:srgbClr val="0F1629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82880"/>
            <a:ext cx="85953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474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70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ONDORIO OROKORRAK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7132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Praktiketan Ikasitakoa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960120"/>
          </a:xfrm>
          <a:prstGeom prst="rect">
            <a:avLst/>
          </a:prstGeom>
          <a:solidFill>
            <a:srgbClr val="131B3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82296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72184"/>
            <a:ext cx="640080" cy="905256"/>
          </a:xfrm>
          <a:prstGeom prst="rect">
            <a:avLst/>
          </a:prstGeom>
          <a:solidFill>
            <a:srgbClr val="0F1629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72184"/>
            <a:ext cx="6400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15087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Soluzio anitzak daude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87452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Guztiak Timer bidez ISR barruan ebatzi daitezke ala gertaerak main()-en jokatzen utzi. Diseinuaren erabakia arkitekturak baldintzatzen du.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8229600" cy="960120"/>
          </a:xfrm>
          <a:prstGeom prst="rect">
            <a:avLst/>
          </a:prstGeom>
          <a:solidFill>
            <a:srgbClr val="131B3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14600"/>
            <a:ext cx="82296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69464"/>
            <a:ext cx="640080" cy="905256"/>
          </a:xfrm>
          <a:prstGeom prst="rect">
            <a:avLst/>
          </a:prstGeom>
          <a:solidFill>
            <a:srgbClr val="0F1629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69464"/>
            <a:ext cx="6400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34440" y="26060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"Zatikatu eta Garaitu"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7180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Inplementazio zuzenena: kodea fitxategi/funtziotan banatzea. karakterizazioa.c, bihurketak.c — bakoitza bere ardura.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8229600" cy="960120"/>
          </a:xfrm>
          <a:prstGeom prst="rect">
            <a:avLst/>
          </a:prstGeom>
          <a:solidFill>
            <a:srgbClr val="131B3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11880"/>
            <a:ext cx="82296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66744"/>
            <a:ext cx="640080" cy="905256"/>
          </a:xfrm>
          <a:prstGeom prst="rect">
            <a:avLst/>
          </a:prstGeom>
          <a:solidFill>
            <a:srgbClr val="0F1629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66744"/>
            <a:ext cx="6400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34440" y="37033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Delay() baztertu!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06908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Proiektua askoz egonkorragoa izaten da delay atzerapenak erabat baztertzen direnean. ISR + tick aldagaia da bide egokia.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709160"/>
            <a:ext cx="8595360" cy="201168"/>
          </a:xfrm>
          <a:prstGeom prst="rect">
            <a:avLst/>
          </a:prstGeom>
          <a:solidFill>
            <a:srgbClr val="131B3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2744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80C552  |  Keil µVision  |  C51  —  Sistema Elektroniko Digitalak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Praktikak: Ebazpenen Bilduma</dc:title>
  <dc:subject>PptxGenJS Presentation</dc:subject>
  <dc:creator>PptxGenJS</dc:creator>
  <cp:lastModifiedBy>PptxGenJS</cp:lastModifiedBy>
  <cp:revision>1</cp:revision>
  <dcterms:created xsi:type="dcterms:W3CDTF">2026-03-11T20:06:10Z</dcterms:created>
  <dcterms:modified xsi:type="dcterms:W3CDTF">2026-03-11T20:06:10Z</dcterms:modified>
</cp:coreProperties>
</file>